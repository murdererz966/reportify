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ernoru" charset="1" panose="00000A00000000000000"/>
      <p:regular r:id="rId16"/>
    </p:embeddedFont>
    <p:embeddedFont>
      <p:font typeface="Open Sauce Light" charset="1" panose="00000400000000000000"/>
      <p:regular r:id="rId17"/>
    </p:embeddedFont>
    <p:embeddedFont>
      <p:font typeface="Open Sauce" charset="1" panose="00000500000000000000"/>
      <p:regular r:id="rId18"/>
    </p:embeddedFont>
    <p:embeddedFont>
      <p:font typeface="League Spartan" charset="1" panose="00000800000000000000"/>
      <p:regular r:id="rId19"/>
    </p:embeddedFont>
    <p:embeddedFont>
      <p:font typeface="Poppins Bold" charset="1" panose="00000800000000000000"/>
      <p:regular r:id="rId20"/>
    </p:embeddedFont>
    <p:embeddedFont>
      <p:font typeface="Poppins Ultra-Bold" charset="1" panose="000009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381605" y="352455"/>
            <a:ext cx="1046288" cy="1040124"/>
          </a:xfrm>
          <a:custGeom>
            <a:avLst/>
            <a:gdLst/>
            <a:ahLst/>
            <a:cxnLst/>
            <a:rect r="r" b="b" t="t" l="l"/>
            <a:pathLst>
              <a:path h="1040124" w="1046288">
                <a:moveTo>
                  <a:pt x="0" y="0"/>
                </a:moveTo>
                <a:lnTo>
                  <a:pt x="1046288" y="0"/>
                </a:lnTo>
                <a:lnTo>
                  <a:pt x="1046288" y="1040123"/>
                </a:lnTo>
                <a:lnTo>
                  <a:pt x="0" y="1040123"/>
                </a:lnTo>
                <a:lnTo>
                  <a:pt x="0" y="0"/>
                </a:lnTo>
                <a:close/>
              </a:path>
            </a:pathLst>
          </a:custGeom>
          <a:blipFill>
            <a:blip r:embed="rId2"/>
            <a:stretch>
              <a:fillRect l="0" t="-2879" r="-5135" b="-2879"/>
            </a:stretch>
          </a:blipFill>
        </p:spPr>
      </p:sp>
      <p:sp>
        <p:nvSpPr>
          <p:cNvPr name="TextBox 3" id="3"/>
          <p:cNvSpPr txBox="true"/>
          <p:nvPr/>
        </p:nvSpPr>
        <p:spPr>
          <a:xfrm rot="0">
            <a:off x="904749" y="2979317"/>
            <a:ext cx="13894338" cy="2427604"/>
          </a:xfrm>
          <a:prstGeom prst="rect">
            <a:avLst/>
          </a:prstGeom>
        </p:spPr>
        <p:txBody>
          <a:bodyPr anchor="t" rtlCol="false" tIns="0" lIns="0" bIns="0" rIns="0">
            <a:spAutoFit/>
          </a:bodyPr>
          <a:lstStyle/>
          <a:p>
            <a:pPr algn="l">
              <a:lnSpc>
                <a:spcPts val="17859"/>
              </a:lnSpc>
            </a:pPr>
            <a:r>
              <a:rPr lang="en-US" sz="18999" spc="-398">
                <a:gradFill>
                  <a:gsLst>
                    <a:gs pos="0">
                      <a:srgbClr val="FF5757">
                        <a:alpha val="100000"/>
                      </a:srgbClr>
                    </a:gs>
                    <a:gs pos="100000">
                      <a:srgbClr val="8C52FF">
                        <a:alpha val="100000"/>
                      </a:srgbClr>
                    </a:gs>
                  </a:gsLst>
                  <a:lin ang="0"/>
                </a:gradFill>
                <a:latin typeface="Bernoru"/>
                <a:ea typeface="Bernoru"/>
                <a:cs typeface="Bernoru"/>
                <a:sym typeface="Bernoru"/>
              </a:rPr>
              <a:t>REPORTIFY</a:t>
            </a:r>
          </a:p>
        </p:txBody>
      </p:sp>
      <p:sp>
        <p:nvSpPr>
          <p:cNvPr name="TextBox 4" id="4"/>
          <p:cNvSpPr txBox="true"/>
          <p:nvPr/>
        </p:nvSpPr>
        <p:spPr>
          <a:xfrm rot="0">
            <a:off x="10875404" y="6568971"/>
            <a:ext cx="6389480" cy="1012698"/>
          </a:xfrm>
          <a:prstGeom prst="rect">
            <a:avLst/>
          </a:prstGeom>
        </p:spPr>
        <p:txBody>
          <a:bodyPr anchor="t" rtlCol="false" tIns="0" lIns="0" bIns="0" rIns="0">
            <a:spAutoFit/>
          </a:bodyPr>
          <a:lstStyle/>
          <a:p>
            <a:pPr algn="l">
              <a:lnSpc>
                <a:spcPts val="3996"/>
              </a:lnSpc>
            </a:pPr>
            <a:r>
              <a:rPr lang="en-US" sz="3600" spc="-75">
                <a:gradFill>
                  <a:gsLst>
                    <a:gs pos="0">
                      <a:srgbClr val="0097B2">
                        <a:alpha val="100000"/>
                      </a:srgbClr>
                    </a:gs>
                    <a:gs pos="100000">
                      <a:srgbClr val="7ED957">
                        <a:alpha val="100000"/>
                      </a:srgbClr>
                    </a:gs>
                  </a:gsLst>
                  <a:lin ang="0"/>
                </a:gradFill>
                <a:latin typeface="Open Sauce Light"/>
                <a:ea typeface="Open Sauce Light"/>
                <a:cs typeface="Open Sauce Light"/>
                <a:sym typeface="Open Sauce Light"/>
              </a:rPr>
              <a:t>“Because reporting a problem shouldn’t be a problem.”</a:t>
            </a:r>
          </a:p>
        </p:txBody>
      </p:sp>
      <p:sp>
        <p:nvSpPr>
          <p:cNvPr name="TextBox 5" id="5"/>
          <p:cNvSpPr txBox="true"/>
          <p:nvPr/>
        </p:nvSpPr>
        <p:spPr>
          <a:xfrm rot="0">
            <a:off x="14514482" y="1430678"/>
            <a:ext cx="2744818" cy="328041"/>
          </a:xfrm>
          <a:prstGeom prst="rect">
            <a:avLst/>
          </a:prstGeom>
        </p:spPr>
        <p:txBody>
          <a:bodyPr anchor="t" rtlCol="false" tIns="0" lIns="0" bIns="0" rIns="0">
            <a:spAutoFit/>
          </a:bodyPr>
          <a:lstStyle/>
          <a:p>
            <a:pPr algn="r">
              <a:lnSpc>
                <a:spcPts val="2562"/>
              </a:lnSpc>
            </a:pPr>
            <a:r>
              <a:rPr lang="en-US" sz="2100" spc="33">
                <a:solidFill>
                  <a:srgbClr val="C1E328"/>
                </a:solidFill>
                <a:latin typeface="Open Sauce Light"/>
                <a:ea typeface="Open Sauce Light"/>
                <a:cs typeface="Open Sauce Light"/>
                <a:sym typeface="Open Sauce Light"/>
              </a:rPr>
              <a:t>Hackathon 2025</a:t>
            </a:r>
          </a:p>
        </p:txBody>
      </p:sp>
      <p:sp>
        <p:nvSpPr>
          <p:cNvPr name="TextBox 6" id="6"/>
          <p:cNvSpPr txBox="true"/>
          <p:nvPr/>
        </p:nvSpPr>
        <p:spPr>
          <a:xfrm rot="0">
            <a:off x="14070144" y="1123211"/>
            <a:ext cx="3189156" cy="269367"/>
          </a:xfrm>
          <a:prstGeom prst="rect">
            <a:avLst/>
          </a:prstGeom>
        </p:spPr>
        <p:txBody>
          <a:bodyPr anchor="t" rtlCol="false" tIns="0" lIns="0" bIns="0" rIns="0">
            <a:spAutoFit/>
          </a:bodyPr>
          <a:lstStyle/>
          <a:p>
            <a:pPr algn="r">
              <a:lnSpc>
                <a:spcPts val="1973"/>
              </a:lnSpc>
            </a:pPr>
            <a:r>
              <a:rPr lang="en-US" sz="2100" spc="98">
                <a:solidFill>
                  <a:srgbClr val="C1E328"/>
                </a:solidFill>
                <a:latin typeface="Open Sauce"/>
                <a:ea typeface="Open Sauce"/>
                <a:cs typeface="Open Sauce"/>
                <a:sym typeface="Open Sauce"/>
              </a:rPr>
              <a:t>BYTEBATTLE</a:t>
            </a:r>
          </a:p>
        </p:txBody>
      </p:sp>
      <p:sp>
        <p:nvSpPr>
          <p:cNvPr name="TextBox 7" id="7"/>
          <p:cNvSpPr txBox="true"/>
          <p:nvPr/>
        </p:nvSpPr>
        <p:spPr>
          <a:xfrm rot="0">
            <a:off x="1028728" y="5978421"/>
            <a:ext cx="4827270" cy="528623"/>
          </a:xfrm>
          <a:prstGeom prst="rect">
            <a:avLst/>
          </a:prstGeom>
        </p:spPr>
        <p:txBody>
          <a:bodyPr anchor="t" rtlCol="false" tIns="0" lIns="0" bIns="0" rIns="0">
            <a:spAutoFit/>
          </a:bodyPr>
          <a:lstStyle/>
          <a:p>
            <a:pPr algn="ctr">
              <a:lnSpc>
                <a:spcPts val="4201"/>
              </a:lnSpc>
              <a:spcBef>
                <a:spcPct val="0"/>
              </a:spcBef>
            </a:pPr>
            <a:r>
              <a:rPr lang="en-US" sz="3282" spc="154">
                <a:gradFill>
                  <a:gsLst>
                    <a:gs pos="0">
                      <a:srgbClr val="CDFFD8">
                        <a:alpha val="100000"/>
                      </a:srgbClr>
                    </a:gs>
                    <a:gs pos="100000">
                      <a:srgbClr val="94B9FF">
                        <a:alpha val="100000"/>
                      </a:srgbClr>
                    </a:gs>
                  </a:gsLst>
                  <a:lin ang="0"/>
                </a:gradFill>
                <a:latin typeface="League Spartan"/>
                <a:ea typeface="League Spartan"/>
                <a:cs typeface="League Spartan"/>
                <a:sym typeface="League Spartan"/>
              </a:rPr>
              <a:t>BY THE 3AM CODERS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381605" y="352455"/>
            <a:ext cx="1046288" cy="1040124"/>
          </a:xfrm>
          <a:custGeom>
            <a:avLst/>
            <a:gdLst/>
            <a:ahLst/>
            <a:cxnLst/>
            <a:rect r="r" b="b" t="t" l="l"/>
            <a:pathLst>
              <a:path h="1040124" w="1046288">
                <a:moveTo>
                  <a:pt x="0" y="0"/>
                </a:moveTo>
                <a:lnTo>
                  <a:pt x="1046288" y="0"/>
                </a:lnTo>
                <a:lnTo>
                  <a:pt x="1046288" y="1040123"/>
                </a:lnTo>
                <a:lnTo>
                  <a:pt x="0" y="1040123"/>
                </a:lnTo>
                <a:lnTo>
                  <a:pt x="0" y="0"/>
                </a:lnTo>
                <a:close/>
              </a:path>
            </a:pathLst>
          </a:custGeom>
          <a:blipFill>
            <a:blip r:embed="rId2"/>
            <a:stretch>
              <a:fillRect l="0" t="-2879" r="-5135" b="-2879"/>
            </a:stretch>
          </a:blipFill>
        </p:spPr>
      </p:sp>
      <p:sp>
        <p:nvSpPr>
          <p:cNvPr name="Freeform 3" id="3"/>
          <p:cNvSpPr/>
          <p:nvPr/>
        </p:nvSpPr>
        <p:spPr>
          <a:xfrm flipH="false" flipV="false" rot="0">
            <a:off x="11666404" y="5773781"/>
            <a:ext cx="5895070" cy="3763560"/>
          </a:xfrm>
          <a:custGeom>
            <a:avLst/>
            <a:gdLst/>
            <a:ahLst/>
            <a:cxnLst/>
            <a:rect r="r" b="b" t="t" l="l"/>
            <a:pathLst>
              <a:path h="3763560" w="5895070">
                <a:moveTo>
                  <a:pt x="0" y="0"/>
                </a:moveTo>
                <a:lnTo>
                  <a:pt x="5895071" y="0"/>
                </a:lnTo>
                <a:lnTo>
                  <a:pt x="5895071" y="3763560"/>
                </a:lnTo>
                <a:lnTo>
                  <a:pt x="0" y="3763560"/>
                </a:lnTo>
                <a:lnTo>
                  <a:pt x="0" y="0"/>
                </a:lnTo>
                <a:close/>
              </a:path>
            </a:pathLst>
          </a:custGeom>
          <a:blipFill>
            <a:blip r:embed="rId3"/>
            <a:stretch>
              <a:fillRect l="0" t="-28554" r="0" b="-26643"/>
            </a:stretch>
          </a:blipFill>
        </p:spPr>
      </p:sp>
      <p:sp>
        <p:nvSpPr>
          <p:cNvPr name="TextBox 4" id="4"/>
          <p:cNvSpPr txBox="true"/>
          <p:nvPr/>
        </p:nvSpPr>
        <p:spPr>
          <a:xfrm rot="0">
            <a:off x="2073374" y="619155"/>
            <a:ext cx="8013623" cy="2748775"/>
          </a:xfrm>
          <a:prstGeom prst="rect">
            <a:avLst/>
          </a:prstGeom>
        </p:spPr>
        <p:txBody>
          <a:bodyPr anchor="t" rtlCol="false" tIns="0" lIns="0" bIns="0" rIns="0">
            <a:spAutoFit/>
          </a:bodyPr>
          <a:lstStyle/>
          <a:p>
            <a:pPr algn="l">
              <a:lnSpc>
                <a:spcPts val="10462"/>
              </a:lnSpc>
            </a:pPr>
            <a:r>
              <a:rPr lang="en-US" sz="11130" spc="-233">
                <a:gradFill>
                  <a:gsLst>
                    <a:gs pos="0">
                      <a:srgbClr val="FF5757">
                        <a:alpha val="100000"/>
                      </a:srgbClr>
                    </a:gs>
                    <a:gs pos="100000">
                      <a:srgbClr val="8C52FF">
                        <a:alpha val="100000"/>
                      </a:srgbClr>
                    </a:gs>
                  </a:gsLst>
                  <a:lin ang="0"/>
                </a:gradFill>
                <a:latin typeface="Bernoru"/>
                <a:ea typeface="Bernoru"/>
                <a:cs typeface="Bernoru"/>
                <a:sym typeface="Bernoru"/>
              </a:rPr>
              <a:t>THE PROBLEM</a:t>
            </a:r>
          </a:p>
        </p:txBody>
      </p:sp>
      <p:sp>
        <p:nvSpPr>
          <p:cNvPr name="TextBox 5" id="5"/>
          <p:cNvSpPr txBox="true"/>
          <p:nvPr/>
        </p:nvSpPr>
        <p:spPr>
          <a:xfrm rot="0">
            <a:off x="0" y="4285436"/>
            <a:ext cx="10846816" cy="4621624"/>
          </a:xfrm>
          <a:prstGeom prst="rect">
            <a:avLst/>
          </a:prstGeom>
        </p:spPr>
        <p:txBody>
          <a:bodyPr anchor="t" rtlCol="false" tIns="0" lIns="0" bIns="0" rIns="0">
            <a:spAutoFit/>
          </a:bodyPr>
          <a:lstStyle/>
          <a:p>
            <a:pPr algn="ctr">
              <a:lnSpc>
                <a:spcPts val="3348"/>
              </a:lnSpc>
            </a:pPr>
            <a:r>
              <a:rPr lang="en-US" b="true" sz="2615" spc="122">
                <a:gradFill>
                  <a:gsLst>
                    <a:gs pos="0">
                      <a:srgbClr val="CDFFD8">
                        <a:alpha val="100000"/>
                      </a:srgbClr>
                    </a:gs>
                    <a:gs pos="100000">
                      <a:srgbClr val="94B9FF">
                        <a:alpha val="100000"/>
                      </a:srgbClr>
                    </a:gs>
                  </a:gsLst>
                  <a:lin ang="0"/>
                </a:gradFill>
                <a:latin typeface="Poppins Bold"/>
                <a:ea typeface="Poppins Bold"/>
                <a:cs typeface="Poppins Bold"/>
                <a:sym typeface="Poppins Bold"/>
              </a:rPr>
              <a:t>IN MOST COMMUNITIES:</a:t>
            </a:r>
          </a:p>
          <a:p>
            <a:pPr algn="ctr" marL="564743" indent="-282371" lvl="1">
              <a:lnSpc>
                <a:spcPts val="3348"/>
              </a:lnSpc>
              <a:buFont typeface="Arial"/>
              <a:buChar char="•"/>
            </a:pPr>
            <a:r>
              <a:rPr lang="en-US" b="true" sz="2615" spc="122">
                <a:gradFill>
                  <a:gsLst>
                    <a:gs pos="0">
                      <a:srgbClr val="CDFFD8">
                        <a:alpha val="100000"/>
                      </a:srgbClr>
                    </a:gs>
                    <a:gs pos="100000">
                      <a:srgbClr val="94B9FF">
                        <a:alpha val="100000"/>
                      </a:srgbClr>
                    </a:gs>
                  </a:gsLst>
                  <a:lin ang="0"/>
                </a:gradFill>
                <a:latin typeface="Poppins Bold"/>
                <a:ea typeface="Poppins Bold"/>
                <a:cs typeface="Poppins Bold"/>
                <a:sym typeface="Poppins Bold"/>
              </a:rPr>
              <a:t>Problems like garbage overflow, broken streetlights, unsafe areas, water issues, harassment, etc. go unreported.</a:t>
            </a:r>
          </a:p>
          <a:p>
            <a:pPr algn="ctr">
              <a:lnSpc>
                <a:spcPts val="3348"/>
              </a:lnSpc>
            </a:pPr>
          </a:p>
          <a:p>
            <a:pPr algn="ctr" marL="564743" indent="-282371" lvl="1">
              <a:lnSpc>
                <a:spcPts val="3348"/>
              </a:lnSpc>
              <a:buFont typeface="Arial"/>
              <a:buChar char="•"/>
            </a:pPr>
            <a:r>
              <a:rPr lang="en-US" b="true" sz="2615" spc="122">
                <a:gradFill>
                  <a:gsLst>
                    <a:gs pos="0">
                      <a:srgbClr val="CDFFD8">
                        <a:alpha val="100000"/>
                      </a:srgbClr>
                    </a:gs>
                    <a:gs pos="100000">
                      <a:srgbClr val="94B9FF">
                        <a:alpha val="100000"/>
                      </a:srgbClr>
                    </a:gs>
                  </a:gsLst>
                  <a:lin ang="0"/>
                </a:gradFill>
                <a:latin typeface="Poppins Bold"/>
                <a:ea typeface="Poppins Bold"/>
                <a:cs typeface="Poppins Bold"/>
                <a:sym typeface="Poppins Bold"/>
              </a:rPr>
              <a:t>Many people don’t know whom to contact, or the process is slow and complicated.</a:t>
            </a:r>
          </a:p>
          <a:p>
            <a:pPr algn="ctr">
              <a:lnSpc>
                <a:spcPts val="3348"/>
              </a:lnSpc>
            </a:pPr>
          </a:p>
          <a:p>
            <a:pPr algn="ctr" marL="564743" indent="-282371" lvl="1">
              <a:lnSpc>
                <a:spcPts val="3348"/>
              </a:lnSpc>
              <a:buFont typeface="Arial"/>
              <a:buChar char="•"/>
            </a:pPr>
            <a:r>
              <a:rPr lang="en-US" b="true" sz="2615" spc="122">
                <a:gradFill>
                  <a:gsLst>
                    <a:gs pos="0">
                      <a:srgbClr val="CDFFD8">
                        <a:alpha val="100000"/>
                      </a:srgbClr>
                    </a:gs>
                    <a:gs pos="100000">
                      <a:srgbClr val="94B9FF">
                        <a:alpha val="100000"/>
                      </a:srgbClr>
                    </a:gs>
                  </a:gsLst>
                  <a:lin ang="0"/>
                </a:gradFill>
                <a:latin typeface="Poppins Bold"/>
                <a:ea typeface="Poppins Bold"/>
                <a:cs typeface="Poppins Bold"/>
                <a:sym typeface="Poppins Bold"/>
              </a:rPr>
              <a:t>RWAs, municipalities, and local officials get information late, so issues pile up.</a:t>
            </a:r>
          </a:p>
          <a:p>
            <a:pPr algn="ctr">
              <a:lnSpc>
                <a:spcPts val="3348"/>
              </a:lnSpc>
              <a:spcBef>
                <a:spcPct val="0"/>
              </a:spcBef>
            </a:pPr>
          </a:p>
        </p:txBody>
      </p:sp>
      <p:sp>
        <p:nvSpPr>
          <p:cNvPr name="TextBox 6" id="6"/>
          <p:cNvSpPr txBox="true"/>
          <p:nvPr/>
        </p:nvSpPr>
        <p:spPr>
          <a:xfrm rot="0">
            <a:off x="10560274" y="824892"/>
            <a:ext cx="6699026" cy="4729426"/>
          </a:xfrm>
          <a:prstGeom prst="rect">
            <a:avLst/>
          </a:prstGeom>
        </p:spPr>
        <p:txBody>
          <a:bodyPr anchor="t" rtlCol="false" tIns="0" lIns="0" bIns="0" rIns="0">
            <a:spAutoFit/>
          </a:bodyPr>
          <a:lstStyle/>
          <a:p>
            <a:pPr algn="ctr">
              <a:lnSpc>
                <a:spcPts val="4166"/>
              </a:lnSpc>
            </a:pPr>
            <a:r>
              <a:rPr lang="en-US" b="true" sz="3255" spc="153">
                <a:gradFill>
                  <a:gsLst>
                    <a:gs pos="0">
                      <a:srgbClr val="CDFFD8">
                        <a:alpha val="100000"/>
                      </a:srgbClr>
                    </a:gs>
                    <a:gs pos="100000">
                      <a:srgbClr val="94B9FF">
                        <a:alpha val="100000"/>
                      </a:srgbClr>
                    </a:gs>
                  </a:gsLst>
                  <a:lin ang="0"/>
                </a:gradFill>
                <a:latin typeface="Poppins Bold"/>
                <a:ea typeface="Poppins Bold"/>
                <a:cs typeface="Poppins Bold"/>
                <a:sym typeface="Poppins Bold"/>
              </a:rPr>
              <a:t>IMPACT:</a:t>
            </a:r>
          </a:p>
          <a:p>
            <a:pPr algn="ctr" marL="702829" indent="-351414" lvl="1">
              <a:lnSpc>
                <a:spcPts val="4166"/>
              </a:lnSpc>
              <a:buFont typeface="Arial"/>
              <a:buChar char="•"/>
            </a:pPr>
            <a:r>
              <a:rPr lang="en-US" b="true" sz="3255" spc="153">
                <a:gradFill>
                  <a:gsLst>
                    <a:gs pos="0">
                      <a:srgbClr val="CDFFD8">
                        <a:alpha val="100000"/>
                      </a:srgbClr>
                    </a:gs>
                    <a:gs pos="100000">
                      <a:srgbClr val="94B9FF">
                        <a:alpha val="100000"/>
                      </a:srgbClr>
                    </a:gs>
                  </a:gsLst>
                  <a:lin ang="0"/>
                </a:gradFill>
                <a:latin typeface="Poppins Bold"/>
                <a:ea typeface="Poppins Bold"/>
                <a:cs typeface="Poppins Bold"/>
                <a:sym typeface="Poppins Bold"/>
              </a:rPr>
              <a:t>Slower fixes</a:t>
            </a:r>
          </a:p>
          <a:p>
            <a:pPr algn="ctr" marL="702829" indent="-351414" lvl="1">
              <a:lnSpc>
                <a:spcPts val="4166"/>
              </a:lnSpc>
              <a:buFont typeface="Arial"/>
              <a:buChar char="•"/>
            </a:pPr>
            <a:r>
              <a:rPr lang="en-US" b="true" sz="3255" spc="153">
                <a:gradFill>
                  <a:gsLst>
                    <a:gs pos="0">
                      <a:srgbClr val="CDFFD8">
                        <a:alpha val="100000"/>
                      </a:srgbClr>
                    </a:gs>
                    <a:gs pos="100000">
                      <a:srgbClr val="94B9FF">
                        <a:alpha val="100000"/>
                      </a:srgbClr>
                    </a:gs>
                  </a:gsLst>
                  <a:lin ang="0"/>
                </a:gradFill>
                <a:latin typeface="Poppins Bold"/>
                <a:ea typeface="Poppins Bold"/>
                <a:cs typeface="Poppins Bold"/>
                <a:sym typeface="Poppins Bold"/>
              </a:rPr>
              <a:t>Lower quality of life</a:t>
            </a:r>
          </a:p>
          <a:p>
            <a:pPr algn="ctr" marL="702829" indent="-351414" lvl="1">
              <a:lnSpc>
                <a:spcPts val="4166"/>
              </a:lnSpc>
              <a:buFont typeface="Arial"/>
              <a:buChar char="•"/>
            </a:pPr>
            <a:r>
              <a:rPr lang="en-US" b="true" sz="3255" spc="153">
                <a:gradFill>
                  <a:gsLst>
                    <a:gs pos="0">
                      <a:srgbClr val="CDFFD8">
                        <a:alpha val="100000"/>
                      </a:srgbClr>
                    </a:gs>
                    <a:gs pos="100000">
                      <a:srgbClr val="94B9FF">
                        <a:alpha val="100000"/>
                      </a:srgbClr>
                    </a:gs>
                  </a:gsLst>
                  <a:lin ang="0"/>
                </a:gradFill>
                <a:latin typeface="Poppins Bold"/>
                <a:ea typeface="Poppins Bold"/>
                <a:cs typeface="Poppins Bold"/>
                <a:sym typeface="Poppins Bold"/>
              </a:rPr>
              <a:t>Wasted time + resources</a:t>
            </a:r>
          </a:p>
          <a:p>
            <a:pPr algn="ctr" marL="702829" indent="-351414" lvl="1">
              <a:lnSpc>
                <a:spcPts val="4166"/>
              </a:lnSpc>
              <a:buFont typeface="Arial"/>
              <a:buChar char="•"/>
            </a:pPr>
            <a:r>
              <a:rPr lang="en-US" b="true" sz="3255" spc="153">
                <a:gradFill>
                  <a:gsLst>
                    <a:gs pos="0">
                      <a:srgbClr val="CDFFD8">
                        <a:alpha val="100000"/>
                      </a:srgbClr>
                    </a:gs>
                    <a:gs pos="100000">
                      <a:srgbClr val="94B9FF">
                        <a:alpha val="100000"/>
                      </a:srgbClr>
                    </a:gs>
                  </a:gsLst>
                  <a:lin ang="0"/>
                </a:gradFill>
                <a:latin typeface="Poppins Bold"/>
                <a:ea typeface="Poppins Bold"/>
                <a:cs typeface="Poppins Bold"/>
                <a:sym typeface="Poppins Bold"/>
              </a:rPr>
              <a:t>Unsafe living conditions in some areas</a:t>
            </a:r>
          </a:p>
          <a:p>
            <a:pPr algn="ctr">
              <a:lnSpc>
                <a:spcPts val="416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381605" y="352455"/>
            <a:ext cx="1046288" cy="1040124"/>
          </a:xfrm>
          <a:custGeom>
            <a:avLst/>
            <a:gdLst/>
            <a:ahLst/>
            <a:cxnLst/>
            <a:rect r="r" b="b" t="t" l="l"/>
            <a:pathLst>
              <a:path h="1040124" w="1046288">
                <a:moveTo>
                  <a:pt x="0" y="0"/>
                </a:moveTo>
                <a:lnTo>
                  <a:pt x="1046288" y="0"/>
                </a:lnTo>
                <a:lnTo>
                  <a:pt x="1046288" y="1040123"/>
                </a:lnTo>
                <a:lnTo>
                  <a:pt x="0" y="1040123"/>
                </a:lnTo>
                <a:lnTo>
                  <a:pt x="0" y="0"/>
                </a:lnTo>
                <a:close/>
              </a:path>
            </a:pathLst>
          </a:custGeom>
          <a:blipFill>
            <a:blip r:embed="rId2"/>
            <a:stretch>
              <a:fillRect l="0" t="-2879" r="-5135" b="-2879"/>
            </a:stretch>
          </a:blipFill>
        </p:spPr>
      </p:sp>
      <p:sp>
        <p:nvSpPr>
          <p:cNvPr name="TextBox 3" id="3"/>
          <p:cNvSpPr txBox="true"/>
          <p:nvPr/>
        </p:nvSpPr>
        <p:spPr>
          <a:xfrm rot="0">
            <a:off x="2223015" y="304800"/>
            <a:ext cx="9221933" cy="3166142"/>
          </a:xfrm>
          <a:prstGeom prst="rect">
            <a:avLst/>
          </a:prstGeom>
        </p:spPr>
        <p:txBody>
          <a:bodyPr anchor="t" rtlCol="false" tIns="0" lIns="0" bIns="0" rIns="0">
            <a:spAutoFit/>
          </a:bodyPr>
          <a:lstStyle/>
          <a:p>
            <a:pPr algn="l">
              <a:lnSpc>
                <a:spcPts val="12040"/>
              </a:lnSpc>
            </a:pPr>
            <a:r>
              <a:rPr lang="en-US" sz="12808" spc="-268">
                <a:gradFill>
                  <a:gsLst>
                    <a:gs pos="0">
                      <a:srgbClr val="FF5757">
                        <a:alpha val="100000"/>
                      </a:srgbClr>
                    </a:gs>
                    <a:gs pos="100000">
                      <a:srgbClr val="8C52FF">
                        <a:alpha val="100000"/>
                      </a:srgbClr>
                    </a:gs>
                  </a:gsLst>
                  <a:lin ang="0"/>
                </a:gradFill>
                <a:latin typeface="Bernoru"/>
                <a:ea typeface="Bernoru"/>
                <a:cs typeface="Bernoru"/>
                <a:sym typeface="Bernoru"/>
              </a:rPr>
              <a:t>WHY IT MATTERS</a:t>
            </a:r>
          </a:p>
        </p:txBody>
      </p:sp>
      <p:sp>
        <p:nvSpPr>
          <p:cNvPr name="TextBox 4" id="4"/>
          <p:cNvSpPr txBox="true"/>
          <p:nvPr/>
        </p:nvSpPr>
        <p:spPr>
          <a:xfrm rot="0">
            <a:off x="904749" y="4005831"/>
            <a:ext cx="16310487" cy="4782090"/>
          </a:xfrm>
          <a:prstGeom prst="rect">
            <a:avLst/>
          </a:prstGeom>
        </p:spPr>
        <p:txBody>
          <a:bodyPr anchor="t" rtlCol="false" tIns="0" lIns="0" bIns="0" rIns="0">
            <a:spAutoFit/>
          </a:bodyPr>
          <a:lstStyle/>
          <a:p>
            <a:pPr algn="ctr">
              <a:lnSpc>
                <a:spcPts val="4709"/>
              </a:lnSpc>
            </a:pPr>
            <a:r>
              <a:rPr lang="en-US" b="true" sz="3678" spc="172">
                <a:gradFill>
                  <a:gsLst>
                    <a:gs pos="0">
                      <a:srgbClr val="CDFFD8">
                        <a:alpha val="100000"/>
                      </a:srgbClr>
                    </a:gs>
                    <a:gs pos="100000">
                      <a:srgbClr val="94B9FF">
                        <a:alpha val="100000"/>
                      </a:srgbClr>
                    </a:gs>
                  </a:gsLst>
                  <a:lin ang="0"/>
                </a:gradFill>
                <a:latin typeface="Poppins Bold"/>
                <a:ea typeface="Poppins Bold"/>
                <a:cs typeface="Poppins Bold"/>
                <a:sym typeface="Poppins Bold"/>
              </a:rPr>
              <a:t>COMMUNITIES THAT DON’T TRACK ISSUES IN REAL-TIME STRUGGLE WITH:</a:t>
            </a:r>
          </a:p>
          <a:p>
            <a:pPr algn="ctr" marL="794280" indent="-397140" lvl="1">
              <a:lnSpc>
                <a:spcPts val="4709"/>
              </a:lnSpc>
              <a:buFont typeface="Arial"/>
              <a:buChar char="•"/>
            </a:pPr>
            <a:r>
              <a:rPr lang="en-US" b="true" sz="3678" spc="172">
                <a:gradFill>
                  <a:gsLst>
                    <a:gs pos="0">
                      <a:srgbClr val="CDFFD8">
                        <a:alpha val="100000"/>
                      </a:srgbClr>
                    </a:gs>
                    <a:gs pos="100000">
                      <a:srgbClr val="94B9FF">
                        <a:alpha val="100000"/>
                      </a:srgbClr>
                    </a:gs>
                  </a:gsLst>
                  <a:lin ang="0"/>
                </a:gradFill>
                <a:latin typeface="Poppins Bold"/>
                <a:ea typeface="Poppins Bold"/>
                <a:cs typeface="Poppins Bold"/>
                <a:sym typeface="Poppins Bold"/>
              </a:rPr>
              <a:t>Poor maintenance</a:t>
            </a:r>
          </a:p>
          <a:p>
            <a:pPr algn="ctr" marL="794280" indent="-397140" lvl="1">
              <a:lnSpc>
                <a:spcPts val="4709"/>
              </a:lnSpc>
              <a:buFont typeface="Arial"/>
              <a:buChar char="•"/>
            </a:pPr>
            <a:r>
              <a:rPr lang="en-US" b="true" sz="3678" spc="172">
                <a:gradFill>
                  <a:gsLst>
                    <a:gs pos="0">
                      <a:srgbClr val="CDFFD8">
                        <a:alpha val="100000"/>
                      </a:srgbClr>
                    </a:gs>
                    <a:gs pos="100000">
                      <a:srgbClr val="94B9FF">
                        <a:alpha val="100000"/>
                      </a:srgbClr>
                    </a:gs>
                  </a:gsLst>
                  <a:lin ang="0"/>
                </a:gradFill>
                <a:latin typeface="Poppins Bold"/>
                <a:ea typeface="Poppins Bold"/>
                <a:cs typeface="Poppins Bold"/>
                <a:sym typeface="Poppins Bold"/>
              </a:rPr>
              <a:t>Delayed responses</a:t>
            </a:r>
          </a:p>
          <a:p>
            <a:pPr algn="ctr" marL="794280" indent="-397140" lvl="1">
              <a:lnSpc>
                <a:spcPts val="4709"/>
              </a:lnSpc>
              <a:buFont typeface="Arial"/>
              <a:buChar char="•"/>
            </a:pPr>
            <a:r>
              <a:rPr lang="en-US" b="true" sz="3678" spc="172">
                <a:gradFill>
                  <a:gsLst>
                    <a:gs pos="0">
                      <a:srgbClr val="CDFFD8">
                        <a:alpha val="100000"/>
                      </a:srgbClr>
                    </a:gs>
                    <a:gs pos="100000">
                      <a:srgbClr val="94B9FF">
                        <a:alpha val="100000"/>
                      </a:srgbClr>
                    </a:gs>
                  </a:gsLst>
                  <a:lin ang="0"/>
                </a:gradFill>
                <a:latin typeface="Poppins Bold"/>
                <a:ea typeface="Poppins Bold"/>
                <a:cs typeface="Poppins Bold"/>
                <a:sym typeface="Poppins Bold"/>
              </a:rPr>
              <a:t>Reduced public trust</a:t>
            </a:r>
          </a:p>
          <a:p>
            <a:pPr algn="ctr" marL="794280" indent="-397140" lvl="1">
              <a:lnSpc>
                <a:spcPts val="4709"/>
              </a:lnSpc>
              <a:buFont typeface="Arial"/>
              <a:buChar char="•"/>
            </a:pPr>
            <a:r>
              <a:rPr lang="en-US" b="true" sz="3678" spc="172">
                <a:gradFill>
                  <a:gsLst>
                    <a:gs pos="0">
                      <a:srgbClr val="CDFFD8">
                        <a:alpha val="100000"/>
                      </a:srgbClr>
                    </a:gs>
                    <a:gs pos="100000">
                      <a:srgbClr val="94B9FF">
                        <a:alpha val="100000"/>
                      </a:srgbClr>
                    </a:gs>
                  </a:gsLst>
                  <a:lin ang="0"/>
                </a:gradFill>
                <a:latin typeface="Poppins Bold"/>
                <a:ea typeface="Poppins Bold"/>
                <a:cs typeface="Poppins Bold"/>
                <a:sym typeface="Poppins Bold"/>
              </a:rPr>
              <a:t>Higher repair costs later</a:t>
            </a:r>
          </a:p>
          <a:p>
            <a:pPr algn="ctr">
              <a:lnSpc>
                <a:spcPts val="4709"/>
              </a:lnSpc>
            </a:pPr>
          </a:p>
          <a:p>
            <a:pPr algn="ctr">
              <a:lnSpc>
                <a:spcPts val="4709"/>
              </a:lnSpc>
              <a:spcBef>
                <a:spcPct val="0"/>
              </a:spcBef>
            </a:pPr>
          </a:p>
        </p:txBody>
      </p:sp>
      <p:sp>
        <p:nvSpPr>
          <p:cNvPr name="TextBox 5" id="5"/>
          <p:cNvSpPr txBox="true"/>
          <p:nvPr/>
        </p:nvSpPr>
        <p:spPr>
          <a:xfrm rot="0">
            <a:off x="5566781" y="8408327"/>
            <a:ext cx="7784719" cy="849973"/>
          </a:xfrm>
          <a:prstGeom prst="rect">
            <a:avLst/>
          </a:prstGeom>
        </p:spPr>
        <p:txBody>
          <a:bodyPr anchor="t" rtlCol="false" tIns="0" lIns="0" bIns="0" rIns="0">
            <a:spAutoFit/>
          </a:bodyPr>
          <a:lstStyle/>
          <a:p>
            <a:pPr algn="ctr">
              <a:lnSpc>
                <a:spcPts val="3316"/>
              </a:lnSpc>
              <a:spcBef>
                <a:spcPct val="0"/>
              </a:spcBef>
            </a:pPr>
            <a:r>
              <a:rPr lang="en-US" b="true" sz="2591" spc="121">
                <a:gradFill>
                  <a:gsLst>
                    <a:gs pos="0">
                      <a:srgbClr val="CDFFD8">
                        <a:alpha val="100000"/>
                      </a:srgbClr>
                    </a:gs>
                    <a:gs pos="100000">
                      <a:srgbClr val="94B9FF">
                        <a:alpha val="100000"/>
                      </a:srgbClr>
                    </a:gs>
                  </a:gsLst>
                  <a:lin ang="0"/>
                </a:gradFill>
                <a:latin typeface="Poppins Ultra-Bold"/>
                <a:ea typeface="Poppins Ultra-Bold"/>
                <a:cs typeface="Poppins Ultra-Bold"/>
                <a:sym typeface="Poppins Ultra-Bold"/>
              </a:rPr>
              <a:t>BUT — WITH FAST REPORTING, 60–80% OF LOCAL ISSUES CAN BE SOLVED EARLY.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TextBox 2" id="2"/>
          <p:cNvSpPr txBox="true"/>
          <p:nvPr/>
        </p:nvSpPr>
        <p:spPr>
          <a:xfrm rot="0">
            <a:off x="5418158" y="337690"/>
            <a:ext cx="9265293" cy="2443007"/>
          </a:xfrm>
          <a:prstGeom prst="rect">
            <a:avLst/>
          </a:prstGeom>
        </p:spPr>
        <p:txBody>
          <a:bodyPr anchor="t" rtlCol="false" tIns="0" lIns="0" bIns="0" rIns="0">
            <a:spAutoFit/>
          </a:bodyPr>
          <a:lstStyle/>
          <a:p>
            <a:pPr algn="l">
              <a:lnSpc>
                <a:spcPts val="9294"/>
              </a:lnSpc>
            </a:pPr>
            <a:r>
              <a:rPr lang="en-US" sz="9888" spc="-207">
                <a:gradFill>
                  <a:gsLst>
                    <a:gs pos="0">
                      <a:srgbClr val="FF5757">
                        <a:alpha val="100000"/>
                      </a:srgbClr>
                    </a:gs>
                    <a:gs pos="100000">
                      <a:srgbClr val="8C52FF">
                        <a:alpha val="100000"/>
                      </a:srgbClr>
                    </a:gs>
                  </a:gsLst>
                  <a:lin ang="0"/>
                </a:gradFill>
                <a:latin typeface="Bernoru"/>
                <a:ea typeface="Bernoru"/>
                <a:cs typeface="Bernoru"/>
                <a:sym typeface="Bernoru"/>
              </a:rPr>
              <a:t>OUR AI SOLUTION</a:t>
            </a:r>
          </a:p>
        </p:txBody>
      </p:sp>
      <p:sp>
        <p:nvSpPr>
          <p:cNvPr name="TextBox 3" id="3"/>
          <p:cNvSpPr txBox="true"/>
          <p:nvPr/>
        </p:nvSpPr>
        <p:spPr>
          <a:xfrm rot="0">
            <a:off x="4618850" y="3418872"/>
            <a:ext cx="9050300" cy="529098"/>
          </a:xfrm>
          <a:prstGeom prst="rect">
            <a:avLst/>
          </a:prstGeom>
        </p:spPr>
        <p:txBody>
          <a:bodyPr anchor="t" rtlCol="false" tIns="0" lIns="0" bIns="0" rIns="0">
            <a:spAutoFit/>
          </a:bodyPr>
          <a:lstStyle/>
          <a:p>
            <a:pPr algn="ctr">
              <a:lnSpc>
                <a:spcPts val="4147"/>
              </a:lnSpc>
              <a:spcBef>
                <a:spcPct val="0"/>
              </a:spcBef>
            </a:pPr>
            <a:r>
              <a:rPr lang="en-US" b="true" sz="3240" spc="152">
                <a:gradFill>
                  <a:gsLst>
                    <a:gs pos="0">
                      <a:srgbClr val="CDFFD8">
                        <a:alpha val="100000"/>
                      </a:srgbClr>
                    </a:gs>
                    <a:gs pos="100000">
                      <a:srgbClr val="94B9FF">
                        <a:alpha val="100000"/>
                      </a:srgbClr>
                    </a:gs>
                  </a:gsLst>
                  <a:lin ang="0"/>
                </a:gradFill>
                <a:latin typeface="Poppins Bold"/>
                <a:ea typeface="Poppins Bold"/>
                <a:cs typeface="Poppins Bold"/>
                <a:sym typeface="Poppins Bold"/>
              </a:rPr>
              <a:t>SOCIAL EYE AUTOMATICALLY:</a:t>
            </a:r>
          </a:p>
        </p:txBody>
      </p:sp>
      <p:sp>
        <p:nvSpPr>
          <p:cNvPr name="TextBox 4" id="4"/>
          <p:cNvSpPr txBox="true"/>
          <p:nvPr/>
        </p:nvSpPr>
        <p:spPr>
          <a:xfrm rot="0">
            <a:off x="2973645" y="4589983"/>
            <a:ext cx="12340709" cy="4668317"/>
          </a:xfrm>
          <a:prstGeom prst="rect">
            <a:avLst/>
          </a:prstGeom>
        </p:spPr>
        <p:txBody>
          <a:bodyPr anchor="t" rtlCol="false" tIns="0" lIns="0" bIns="0" rIns="0">
            <a:spAutoFit/>
          </a:bodyPr>
          <a:lstStyle/>
          <a:p>
            <a:pPr algn="ctr" marL="630011" indent="-315006" lvl="1">
              <a:lnSpc>
                <a:spcPts val="3735"/>
              </a:lnSpc>
              <a:buAutoNum type="arabicPeriod" startAt="1"/>
            </a:pPr>
            <a:r>
              <a:rPr lang="en-US" b="true" sz="2918" spc="137">
                <a:gradFill>
                  <a:gsLst>
                    <a:gs pos="0">
                      <a:srgbClr val="CDFFD8">
                        <a:alpha val="100000"/>
                      </a:srgbClr>
                    </a:gs>
                    <a:gs pos="100000">
                      <a:srgbClr val="94B9FF">
                        <a:alpha val="100000"/>
                      </a:srgbClr>
                    </a:gs>
                  </a:gsLst>
                  <a:lin ang="0"/>
                </a:gradFill>
                <a:latin typeface="Poppins Bold"/>
                <a:ea typeface="Poppins Bold"/>
                <a:cs typeface="Poppins Bold"/>
                <a:sym typeface="Poppins Bold"/>
              </a:rPr>
              <a:t>COLLECTS SOCIAL ISSUES USERS SUBMIT (TEXT, PHOTO, VOICE).</a:t>
            </a:r>
          </a:p>
          <a:p>
            <a:pPr algn="ctr" marL="630011" indent="-315006" lvl="1">
              <a:lnSpc>
                <a:spcPts val="3735"/>
              </a:lnSpc>
              <a:buAutoNum type="arabicPeriod" startAt="1"/>
            </a:pPr>
            <a:r>
              <a:rPr lang="en-US" b="true" sz="2918" spc="137">
                <a:gradFill>
                  <a:gsLst>
                    <a:gs pos="0">
                      <a:srgbClr val="CDFFD8">
                        <a:alpha val="100000"/>
                      </a:srgbClr>
                    </a:gs>
                    <a:gs pos="100000">
                      <a:srgbClr val="94B9FF">
                        <a:alpha val="100000"/>
                      </a:srgbClr>
                    </a:gs>
                  </a:gsLst>
                  <a:lin ang="0"/>
                </a:gradFill>
                <a:latin typeface="Poppins Bold"/>
                <a:ea typeface="Poppins Bold"/>
                <a:cs typeface="Poppins Bold"/>
                <a:sym typeface="Poppins Bold"/>
              </a:rPr>
              <a:t>Identifies the category (waste, safety, water, electricity, roads, etc.).</a:t>
            </a:r>
          </a:p>
          <a:p>
            <a:pPr algn="ctr" marL="630011" indent="-315006" lvl="1">
              <a:lnSpc>
                <a:spcPts val="3735"/>
              </a:lnSpc>
              <a:buAutoNum type="arabicPeriod" startAt="1"/>
            </a:pPr>
            <a:r>
              <a:rPr lang="en-US" b="true" sz="2918" spc="137">
                <a:gradFill>
                  <a:gsLst>
                    <a:gs pos="0">
                      <a:srgbClr val="CDFFD8">
                        <a:alpha val="100000"/>
                      </a:srgbClr>
                    </a:gs>
                    <a:gs pos="100000">
                      <a:srgbClr val="94B9FF">
                        <a:alpha val="100000"/>
                      </a:srgbClr>
                    </a:gs>
                  </a:gsLst>
                  <a:lin ang="0"/>
                </a:gradFill>
                <a:latin typeface="Poppins Bold"/>
                <a:ea typeface="Poppins Bold"/>
                <a:cs typeface="Poppins Bold"/>
                <a:sym typeface="Poppins Bold"/>
              </a:rPr>
              <a:t>Extracts the exact problem using NLP + image recognition.</a:t>
            </a:r>
          </a:p>
          <a:p>
            <a:pPr algn="ctr" marL="630011" indent="-315006" lvl="1">
              <a:lnSpc>
                <a:spcPts val="3735"/>
              </a:lnSpc>
              <a:buAutoNum type="arabicPeriod" startAt="1"/>
            </a:pPr>
            <a:r>
              <a:rPr lang="en-US" b="true" sz="2918" spc="137">
                <a:gradFill>
                  <a:gsLst>
                    <a:gs pos="0">
                      <a:srgbClr val="CDFFD8">
                        <a:alpha val="100000"/>
                      </a:srgbClr>
                    </a:gs>
                    <a:gs pos="100000">
                      <a:srgbClr val="94B9FF">
                        <a:alpha val="100000"/>
                      </a:srgbClr>
                    </a:gs>
                  </a:gsLst>
                  <a:lin ang="0"/>
                </a:gradFill>
                <a:latin typeface="Poppins Bold"/>
                <a:ea typeface="Poppins Bold"/>
                <a:cs typeface="Poppins Bold"/>
                <a:sym typeface="Poppins Bold"/>
              </a:rPr>
              <a:t>Sends the report instantly to the right RWA/official/department.</a:t>
            </a:r>
          </a:p>
          <a:p>
            <a:pPr algn="ctr">
              <a:lnSpc>
                <a:spcPts val="3735"/>
              </a:lnSpc>
            </a:pPr>
          </a:p>
          <a:p>
            <a:pPr algn="ctr">
              <a:lnSpc>
                <a:spcPts val="3735"/>
              </a:lnSpc>
              <a:spcBef>
                <a:spcPct val="0"/>
              </a:spcBef>
            </a:pPr>
          </a:p>
        </p:txBody>
      </p:sp>
      <p:sp>
        <p:nvSpPr>
          <p:cNvPr name="TextBox 5" id="5"/>
          <p:cNvSpPr txBox="true"/>
          <p:nvPr/>
        </p:nvSpPr>
        <p:spPr>
          <a:xfrm rot="0">
            <a:off x="5662077" y="9229725"/>
            <a:ext cx="6963846" cy="673989"/>
          </a:xfrm>
          <a:prstGeom prst="rect">
            <a:avLst/>
          </a:prstGeom>
        </p:spPr>
        <p:txBody>
          <a:bodyPr anchor="t" rtlCol="false" tIns="0" lIns="0" bIns="0" rIns="0">
            <a:spAutoFit/>
          </a:bodyPr>
          <a:lstStyle/>
          <a:p>
            <a:pPr algn="ctr">
              <a:lnSpc>
                <a:spcPts val="2688"/>
              </a:lnSpc>
            </a:pPr>
            <a:r>
              <a:rPr lang="en-US" b="true" sz="2100" spc="98">
                <a:gradFill>
                  <a:gsLst>
                    <a:gs pos="0">
                      <a:srgbClr val="CDFFD8">
                        <a:alpha val="100000"/>
                      </a:srgbClr>
                    </a:gs>
                    <a:gs pos="100000">
                      <a:srgbClr val="94B9FF">
                        <a:alpha val="100000"/>
                      </a:srgbClr>
                    </a:gs>
                  </a:gsLst>
                  <a:lin ang="0"/>
                </a:gradFill>
                <a:latin typeface="Poppins Bold"/>
                <a:ea typeface="Poppins Bold"/>
                <a:cs typeface="Poppins Bold"/>
                <a:sym typeface="Poppins Bold"/>
              </a:rPr>
              <a:t>NO FORMS. NO DELAYS. JUST SMART REPORTING.</a:t>
            </a:r>
          </a:p>
          <a:p>
            <a:pPr algn="ctr">
              <a:lnSpc>
                <a:spcPts val="2688"/>
              </a:lnSpc>
              <a:spcBef>
                <a:spcPct val="0"/>
              </a:spcBef>
            </a:pPr>
          </a:p>
        </p:txBody>
      </p:sp>
      <p:sp>
        <p:nvSpPr>
          <p:cNvPr name="Freeform 6" id="6"/>
          <p:cNvSpPr/>
          <p:nvPr/>
        </p:nvSpPr>
        <p:spPr>
          <a:xfrm flipH="false" flipV="false" rot="0">
            <a:off x="16736156" y="262414"/>
            <a:ext cx="1046288" cy="1040124"/>
          </a:xfrm>
          <a:custGeom>
            <a:avLst/>
            <a:gdLst/>
            <a:ahLst/>
            <a:cxnLst/>
            <a:rect r="r" b="b" t="t" l="l"/>
            <a:pathLst>
              <a:path h="1040124" w="1046288">
                <a:moveTo>
                  <a:pt x="0" y="0"/>
                </a:moveTo>
                <a:lnTo>
                  <a:pt x="1046288" y="0"/>
                </a:lnTo>
                <a:lnTo>
                  <a:pt x="1046288" y="1040124"/>
                </a:lnTo>
                <a:lnTo>
                  <a:pt x="0" y="1040124"/>
                </a:lnTo>
                <a:lnTo>
                  <a:pt x="0" y="0"/>
                </a:lnTo>
                <a:close/>
              </a:path>
            </a:pathLst>
          </a:custGeom>
          <a:blipFill>
            <a:blip r:embed="rId2"/>
            <a:stretch>
              <a:fillRect l="0" t="-2879" r="-5135" b="-2879"/>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TextBox 2" id="2"/>
          <p:cNvSpPr txBox="true"/>
          <p:nvPr/>
        </p:nvSpPr>
        <p:spPr>
          <a:xfrm rot="0">
            <a:off x="3828080" y="767886"/>
            <a:ext cx="11755444" cy="2748589"/>
          </a:xfrm>
          <a:prstGeom prst="rect">
            <a:avLst/>
          </a:prstGeom>
        </p:spPr>
        <p:txBody>
          <a:bodyPr anchor="t" rtlCol="false" tIns="0" lIns="0" bIns="0" rIns="0">
            <a:spAutoFit/>
          </a:bodyPr>
          <a:lstStyle/>
          <a:p>
            <a:pPr algn="l">
              <a:lnSpc>
                <a:spcPts val="10457"/>
              </a:lnSpc>
            </a:pPr>
            <a:r>
              <a:rPr lang="en-US" sz="11124" spc="-233">
                <a:gradFill>
                  <a:gsLst>
                    <a:gs pos="0">
                      <a:srgbClr val="FF5757">
                        <a:alpha val="100000"/>
                      </a:srgbClr>
                    </a:gs>
                    <a:gs pos="100000">
                      <a:srgbClr val="8C52FF">
                        <a:alpha val="100000"/>
                      </a:srgbClr>
                    </a:gs>
                  </a:gsLst>
                  <a:lin ang="0"/>
                </a:gradFill>
                <a:latin typeface="Bernoru"/>
                <a:ea typeface="Bernoru"/>
                <a:cs typeface="Bernoru"/>
                <a:sym typeface="Bernoru"/>
              </a:rPr>
              <a:t>HOW IT WORKS (SIMPLE FLOW)</a:t>
            </a:r>
          </a:p>
        </p:txBody>
      </p:sp>
      <p:sp>
        <p:nvSpPr>
          <p:cNvPr name="TextBox 3" id="3"/>
          <p:cNvSpPr txBox="true"/>
          <p:nvPr/>
        </p:nvSpPr>
        <p:spPr>
          <a:xfrm rot="0">
            <a:off x="593527" y="4321420"/>
            <a:ext cx="17100947" cy="4936880"/>
          </a:xfrm>
          <a:prstGeom prst="rect">
            <a:avLst/>
          </a:prstGeom>
        </p:spPr>
        <p:txBody>
          <a:bodyPr anchor="t" rtlCol="false" tIns="0" lIns="0" bIns="0" rIns="0">
            <a:spAutoFit/>
          </a:bodyPr>
          <a:lstStyle/>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1 — USER REPORTS</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 A resident sends a text, photo, or voice note about a problem.</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2 — AI Detects the Issue</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 Our model identifies the category (waste, road, safety, water, etc.) and rates severity.</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3 — Auto-Routing</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 The system instantly sends the issue to the correct RWA or government department.</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4 — Dashboard View</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 Officials see all reports with: issue type, image, priority, and time received.</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5 — Status Tracking</a:t>
            </a:r>
          </a:p>
          <a:p>
            <a:pPr algn="ctr">
              <a:lnSpc>
                <a:spcPts val="3230"/>
              </a:lnSpc>
            </a:pPr>
            <a:r>
              <a:rPr lang="en-US" b="true" sz="2524" spc="118">
                <a:gradFill>
                  <a:gsLst>
                    <a:gs pos="0">
                      <a:srgbClr val="CDFFD8">
                        <a:alpha val="100000"/>
                      </a:srgbClr>
                    </a:gs>
                    <a:gs pos="100000">
                      <a:srgbClr val="94B9FF">
                        <a:alpha val="100000"/>
                      </a:srgbClr>
                    </a:gs>
                  </a:gsLst>
                  <a:lin ang="0"/>
                </a:gradFill>
                <a:latin typeface="Poppins Bold"/>
                <a:ea typeface="Poppins Bold"/>
                <a:cs typeface="Poppins Bold"/>
                <a:sym typeface="Poppins Bold"/>
              </a:rPr>
              <a:t> Users get updates as the issue moves from Pending → In Progress → Resolved.</a:t>
            </a:r>
          </a:p>
          <a:p>
            <a:pPr algn="ctr">
              <a:lnSpc>
                <a:spcPts val="3230"/>
              </a:lnSpc>
            </a:pPr>
          </a:p>
          <a:p>
            <a:pPr algn="ctr">
              <a:lnSpc>
                <a:spcPts val="3230"/>
              </a:lnSpc>
              <a:spcBef>
                <a:spcPct val="0"/>
              </a:spcBef>
            </a:pPr>
          </a:p>
        </p:txBody>
      </p:sp>
      <p:sp>
        <p:nvSpPr>
          <p:cNvPr name="Freeform 4" id="4"/>
          <p:cNvSpPr/>
          <p:nvPr/>
        </p:nvSpPr>
        <p:spPr>
          <a:xfrm flipH="false" flipV="false" rot="0">
            <a:off x="381605" y="352455"/>
            <a:ext cx="1046288" cy="1040124"/>
          </a:xfrm>
          <a:custGeom>
            <a:avLst/>
            <a:gdLst/>
            <a:ahLst/>
            <a:cxnLst/>
            <a:rect r="r" b="b" t="t" l="l"/>
            <a:pathLst>
              <a:path h="1040124" w="1046288">
                <a:moveTo>
                  <a:pt x="0" y="0"/>
                </a:moveTo>
                <a:lnTo>
                  <a:pt x="1046288" y="0"/>
                </a:lnTo>
                <a:lnTo>
                  <a:pt x="1046288" y="1040123"/>
                </a:lnTo>
                <a:lnTo>
                  <a:pt x="0" y="1040123"/>
                </a:lnTo>
                <a:lnTo>
                  <a:pt x="0" y="0"/>
                </a:lnTo>
                <a:close/>
              </a:path>
            </a:pathLst>
          </a:custGeom>
          <a:blipFill>
            <a:blip r:embed="rId2"/>
            <a:stretch>
              <a:fillRect l="0" t="-2879" r="-5135" b="-2879"/>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TextBox 2" id="2"/>
          <p:cNvSpPr txBox="true"/>
          <p:nvPr/>
        </p:nvSpPr>
        <p:spPr>
          <a:xfrm rot="0">
            <a:off x="5774614" y="473714"/>
            <a:ext cx="6738772" cy="3342871"/>
          </a:xfrm>
          <a:prstGeom prst="rect">
            <a:avLst/>
          </a:prstGeom>
        </p:spPr>
        <p:txBody>
          <a:bodyPr anchor="t" rtlCol="false" tIns="0" lIns="0" bIns="0" rIns="0">
            <a:spAutoFit/>
          </a:bodyPr>
          <a:lstStyle/>
          <a:p>
            <a:pPr algn="l">
              <a:lnSpc>
                <a:spcPts val="12732"/>
              </a:lnSpc>
            </a:pPr>
            <a:r>
              <a:rPr lang="en-US" sz="13545" spc="-284">
                <a:gradFill>
                  <a:gsLst>
                    <a:gs pos="0">
                      <a:srgbClr val="FF5757">
                        <a:alpha val="100000"/>
                      </a:srgbClr>
                    </a:gs>
                    <a:gs pos="100000">
                      <a:srgbClr val="8C52FF">
                        <a:alpha val="100000"/>
                      </a:srgbClr>
                    </a:gs>
                  </a:gsLst>
                  <a:lin ang="0"/>
                </a:gradFill>
                <a:latin typeface="Bernoru"/>
                <a:ea typeface="Bernoru"/>
                <a:cs typeface="Bernoru"/>
                <a:sym typeface="Bernoru"/>
              </a:rPr>
              <a:t>SOCIAL IMPACT</a:t>
            </a:r>
          </a:p>
        </p:txBody>
      </p:sp>
      <p:sp>
        <p:nvSpPr>
          <p:cNvPr name="TextBox 3" id="3"/>
          <p:cNvSpPr txBox="true"/>
          <p:nvPr/>
        </p:nvSpPr>
        <p:spPr>
          <a:xfrm rot="0">
            <a:off x="0" y="4157813"/>
            <a:ext cx="18288000" cy="5654626"/>
          </a:xfrm>
          <a:prstGeom prst="rect">
            <a:avLst/>
          </a:prstGeom>
        </p:spPr>
        <p:txBody>
          <a:bodyPr anchor="t" rtlCol="false" tIns="0" lIns="0" bIns="0" rIns="0">
            <a:spAutoFit/>
          </a:bodyPr>
          <a:lstStyle/>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1.CLEANER, SAFER COMMUNITIES</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 AI-driven reporting makes it easier to fix daily issues like waste, road damage, and lighting problems, improving overall living conditions.</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2.</a:t>
            </a: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Faster Response Times</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 Authorities receive issues instantly, reducing delays and helping fix problems before they grow bigger.3.</a:t>
            </a: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a:t>
            </a: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Better Accountability</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 Every report is tracked. Officials can’t ignore or lose complaints — everything is visible on the dashboard.</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4.</a:t>
            </a: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Data-Driven Decisions</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 Patterns show which areas face the most problems, helping RWAs and municipalities plan budgets, manpower, and repairs more effectively.</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5.</a:t>
            </a: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Community Engagement</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 Residents feel heard and are more likely to report issues because it’s quick and simple.</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6.</a:t>
            </a: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Reduced Workload for Officials</a:t>
            </a:r>
          </a:p>
          <a:p>
            <a:pPr algn="ctr">
              <a:lnSpc>
                <a:spcPts val="2806"/>
              </a:lnSpc>
            </a:pPr>
            <a:r>
              <a:rPr lang="en-US" b="true" sz="2192" spc="103">
                <a:gradFill>
                  <a:gsLst>
                    <a:gs pos="0">
                      <a:srgbClr val="CDFFD8">
                        <a:alpha val="100000"/>
                      </a:srgbClr>
                    </a:gs>
                    <a:gs pos="100000">
                      <a:srgbClr val="94B9FF">
                        <a:alpha val="100000"/>
                      </a:srgbClr>
                    </a:gs>
                  </a:gsLst>
                  <a:lin ang="0"/>
                </a:gradFill>
                <a:latin typeface="Poppins Bold"/>
                <a:ea typeface="Poppins Bold"/>
                <a:cs typeface="Poppins Bold"/>
                <a:sym typeface="Poppins Bold"/>
              </a:rPr>
              <a:t> Instead of manually collecting complaints, the AI organizes, categorizes, and prioritizes them.</a:t>
            </a:r>
          </a:p>
          <a:p>
            <a:pPr algn="ctr">
              <a:lnSpc>
                <a:spcPts val="2806"/>
              </a:lnSpc>
              <a:spcBef>
                <a:spcPct val="0"/>
              </a:spcBef>
            </a:pPr>
          </a:p>
        </p:txBody>
      </p:sp>
      <p:sp>
        <p:nvSpPr>
          <p:cNvPr name="Freeform 4" id="4"/>
          <p:cNvSpPr/>
          <p:nvPr/>
        </p:nvSpPr>
        <p:spPr>
          <a:xfrm flipH="false" flipV="false" rot="0">
            <a:off x="381605" y="352455"/>
            <a:ext cx="1046288" cy="1040124"/>
          </a:xfrm>
          <a:custGeom>
            <a:avLst/>
            <a:gdLst/>
            <a:ahLst/>
            <a:cxnLst/>
            <a:rect r="r" b="b" t="t" l="l"/>
            <a:pathLst>
              <a:path h="1040124" w="1046288">
                <a:moveTo>
                  <a:pt x="0" y="0"/>
                </a:moveTo>
                <a:lnTo>
                  <a:pt x="1046288" y="0"/>
                </a:lnTo>
                <a:lnTo>
                  <a:pt x="1046288" y="1040123"/>
                </a:lnTo>
                <a:lnTo>
                  <a:pt x="0" y="1040123"/>
                </a:lnTo>
                <a:lnTo>
                  <a:pt x="0" y="0"/>
                </a:lnTo>
                <a:close/>
              </a:path>
            </a:pathLst>
          </a:custGeom>
          <a:blipFill>
            <a:blip r:embed="rId2"/>
            <a:stretch>
              <a:fillRect l="0" t="-2879" r="-5135" b="-2879"/>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4569538" y="3266076"/>
            <a:ext cx="8741086" cy="5704438"/>
          </a:xfrm>
          <a:custGeom>
            <a:avLst/>
            <a:gdLst/>
            <a:ahLst/>
            <a:cxnLst/>
            <a:rect r="r" b="b" t="t" l="l"/>
            <a:pathLst>
              <a:path h="5704438" w="8741086">
                <a:moveTo>
                  <a:pt x="0" y="0"/>
                </a:moveTo>
                <a:lnTo>
                  <a:pt x="8741086" y="0"/>
                </a:lnTo>
                <a:lnTo>
                  <a:pt x="8741086" y="5704438"/>
                </a:lnTo>
                <a:lnTo>
                  <a:pt x="0" y="5704438"/>
                </a:lnTo>
                <a:lnTo>
                  <a:pt x="0" y="0"/>
                </a:lnTo>
                <a:close/>
              </a:path>
            </a:pathLst>
          </a:custGeom>
          <a:blipFill>
            <a:blip r:embed="rId2"/>
            <a:stretch>
              <a:fillRect l="0" t="0" r="-419" b="0"/>
            </a:stretch>
          </a:blipFill>
        </p:spPr>
      </p:sp>
      <p:sp>
        <p:nvSpPr>
          <p:cNvPr name="TextBox 3" id="3"/>
          <p:cNvSpPr txBox="true"/>
          <p:nvPr/>
        </p:nvSpPr>
        <p:spPr>
          <a:xfrm rot="0">
            <a:off x="3519055" y="847725"/>
            <a:ext cx="11647051" cy="1576069"/>
          </a:xfrm>
          <a:prstGeom prst="rect">
            <a:avLst/>
          </a:prstGeom>
        </p:spPr>
        <p:txBody>
          <a:bodyPr anchor="t" rtlCol="false" tIns="0" lIns="0" bIns="0" rIns="0">
            <a:spAutoFit/>
          </a:bodyPr>
          <a:lstStyle/>
          <a:p>
            <a:pPr algn="ctr">
              <a:lnSpc>
                <a:spcPts val="12880"/>
              </a:lnSpc>
            </a:pPr>
            <a:r>
              <a:rPr lang="en-US" sz="9200">
                <a:gradFill>
                  <a:gsLst>
                    <a:gs pos="0">
                      <a:srgbClr val="FF5757">
                        <a:alpha val="100000"/>
                      </a:srgbClr>
                    </a:gs>
                    <a:gs pos="100000">
                      <a:srgbClr val="8C52FF">
                        <a:alpha val="100000"/>
                      </a:srgbClr>
                    </a:gs>
                  </a:gsLst>
                  <a:lin ang="0"/>
                </a:gradFill>
                <a:latin typeface="Bernoru"/>
                <a:ea typeface="Bernoru"/>
                <a:cs typeface="Bernoru"/>
                <a:sym typeface="Bernoru"/>
              </a:rPr>
              <a:t>Demo / Prototype</a:t>
            </a:r>
          </a:p>
        </p:txBody>
      </p:sp>
      <p:sp>
        <p:nvSpPr>
          <p:cNvPr name="Freeform 4" id="4"/>
          <p:cNvSpPr/>
          <p:nvPr/>
        </p:nvSpPr>
        <p:spPr>
          <a:xfrm flipH="false" flipV="false" rot="0">
            <a:off x="381605" y="352455"/>
            <a:ext cx="1182147" cy="1175182"/>
          </a:xfrm>
          <a:custGeom>
            <a:avLst/>
            <a:gdLst/>
            <a:ahLst/>
            <a:cxnLst/>
            <a:rect r="r" b="b" t="t" l="l"/>
            <a:pathLst>
              <a:path h="1175182" w="1182147">
                <a:moveTo>
                  <a:pt x="0" y="0"/>
                </a:moveTo>
                <a:lnTo>
                  <a:pt x="1182147" y="0"/>
                </a:lnTo>
                <a:lnTo>
                  <a:pt x="1182147" y="1175181"/>
                </a:lnTo>
                <a:lnTo>
                  <a:pt x="0" y="1175181"/>
                </a:lnTo>
                <a:lnTo>
                  <a:pt x="0" y="0"/>
                </a:lnTo>
                <a:close/>
              </a:path>
            </a:pathLst>
          </a:custGeom>
          <a:blipFill>
            <a:blip r:embed="rId3"/>
            <a:stretch>
              <a:fillRect l="0" t="-2879" r="-5135" b="-2879"/>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TextBox 2" id="2"/>
          <p:cNvSpPr txBox="true"/>
          <p:nvPr/>
        </p:nvSpPr>
        <p:spPr>
          <a:xfrm rot="0">
            <a:off x="3519170" y="842541"/>
            <a:ext cx="12441804" cy="2327299"/>
          </a:xfrm>
          <a:prstGeom prst="rect">
            <a:avLst/>
          </a:prstGeom>
        </p:spPr>
        <p:txBody>
          <a:bodyPr anchor="t" rtlCol="false" tIns="0" lIns="0" bIns="0" rIns="0">
            <a:spAutoFit/>
          </a:bodyPr>
          <a:lstStyle/>
          <a:p>
            <a:pPr algn="l">
              <a:lnSpc>
                <a:spcPts val="8860"/>
              </a:lnSpc>
            </a:pPr>
            <a:r>
              <a:rPr lang="en-US" sz="9426" spc="-197">
                <a:gradFill>
                  <a:gsLst>
                    <a:gs pos="0">
                      <a:srgbClr val="FF5757">
                        <a:alpha val="100000"/>
                      </a:srgbClr>
                    </a:gs>
                    <a:gs pos="100000">
                      <a:srgbClr val="8C52FF">
                        <a:alpha val="100000"/>
                      </a:srgbClr>
                    </a:gs>
                  </a:gsLst>
                  <a:lin ang="0"/>
                </a:gradFill>
                <a:latin typeface="Bernoru"/>
                <a:ea typeface="Bernoru"/>
                <a:cs typeface="Bernoru"/>
                <a:sym typeface="Bernoru"/>
              </a:rPr>
              <a:t>METRICS / EXPECTED RESULTS</a:t>
            </a:r>
          </a:p>
        </p:txBody>
      </p:sp>
      <p:sp>
        <p:nvSpPr>
          <p:cNvPr name="Freeform 3" id="3"/>
          <p:cNvSpPr/>
          <p:nvPr/>
        </p:nvSpPr>
        <p:spPr>
          <a:xfrm flipH="false" flipV="false" rot="0">
            <a:off x="381605" y="352455"/>
            <a:ext cx="1046288" cy="1040124"/>
          </a:xfrm>
          <a:custGeom>
            <a:avLst/>
            <a:gdLst/>
            <a:ahLst/>
            <a:cxnLst/>
            <a:rect r="r" b="b" t="t" l="l"/>
            <a:pathLst>
              <a:path h="1040124" w="1046288">
                <a:moveTo>
                  <a:pt x="0" y="0"/>
                </a:moveTo>
                <a:lnTo>
                  <a:pt x="1046288" y="0"/>
                </a:lnTo>
                <a:lnTo>
                  <a:pt x="1046288" y="1040123"/>
                </a:lnTo>
                <a:lnTo>
                  <a:pt x="0" y="1040123"/>
                </a:lnTo>
                <a:lnTo>
                  <a:pt x="0" y="0"/>
                </a:lnTo>
                <a:close/>
              </a:path>
            </a:pathLst>
          </a:custGeom>
          <a:blipFill>
            <a:blip r:embed="rId2"/>
            <a:stretch>
              <a:fillRect l="0" t="-2879" r="-5135" b="-2879"/>
            </a:stretch>
          </a:blipFill>
        </p:spPr>
      </p:sp>
      <p:sp>
        <p:nvSpPr>
          <p:cNvPr name="TextBox 4" id="4"/>
          <p:cNvSpPr txBox="true"/>
          <p:nvPr/>
        </p:nvSpPr>
        <p:spPr>
          <a:xfrm rot="0">
            <a:off x="904749" y="3805042"/>
            <a:ext cx="16597504" cy="1306296"/>
          </a:xfrm>
          <a:prstGeom prst="rect">
            <a:avLst/>
          </a:prstGeom>
        </p:spPr>
        <p:txBody>
          <a:bodyPr anchor="t" rtlCol="false" tIns="0" lIns="0" bIns="0" rIns="0">
            <a:spAutoFit/>
          </a:bodyPr>
          <a:lstStyle/>
          <a:p>
            <a:pPr algn="ctr">
              <a:lnSpc>
                <a:spcPts val="5108"/>
              </a:lnSpc>
              <a:spcBef>
                <a:spcPct val="0"/>
              </a:spcBef>
            </a:pPr>
            <a:r>
              <a:rPr lang="en-US" b="true" sz="3648" spc="-76">
                <a:gradFill>
                  <a:gsLst>
                    <a:gs pos="0">
                      <a:srgbClr val="CDFFD8">
                        <a:alpha val="100000"/>
                      </a:srgbClr>
                    </a:gs>
                    <a:gs pos="100000">
                      <a:srgbClr val="94B9FF">
                        <a:alpha val="100000"/>
                      </a:srgbClr>
                    </a:gs>
                  </a:gsLst>
                  <a:lin ang="0"/>
                </a:gradFill>
                <a:latin typeface="Poppins Bold"/>
                <a:ea typeface="Poppins Bold"/>
                <a:cs typeface="Poppins Bold"/>
                <a:sym typeface="Poppins Bold"/>
              </a:rPr>
              <a:t>WE HOPE TO MAKE AN IMPACT BY PROVIDING THE CITIZENS WHAT THEY WANT.</a:t>
            </a:r>
          </a:p>
        </p:txBody>
      </p:sp>
      <p:sp>
        <p:nvSpPr>
          <p:cNvPr name="TextBox 5" id="5"/>
          <p:cNvSpPr txBox="true"/>
          <p:nvPr/>
        </p:nvSpPr>
        <p:spPr>
          <a:xfrm rot="0">
            <a:off x="1427893" y="5544889"/>
            <a:ext cx="16147513" cy="3018790"/>
          </a:xfrm>
          <a:prstGeom prst="rect">
            <a:avLst/>
          </a:prstGeom>
        </p:spPr>
        <p:txBody>
          <a:bodyPr anchor="t" rtlCol="false" tIns="0" lIns="0" bIns="0" rIns="0">
            <a:spAutoFit/>
          </a:bodyPr>
          <a:lstStyle/>
          <a:p>
            <a:pPr algn="ctr">
              <a:lnSpc>
                <a:spcPts val="4759"/>
              </a:lnSpc>
            </a:pPr>
            <a:r>
              <a:rPr lang="en-US" b="true" sz="3399">
                <a:gradFill>
                  <a:gsLst>
                    <a:gs pos="0">
                      <a:srgbClr val="CDFFD8">
                        <a:alpha val="100000"/>
                      </a:srgbClr>
                    </a:gs>
                    <a:gs pos="100000">
                      <a:srgbClr val="94B9FF">
                        <a:alpha val="100000"/>
                      </a:srgbClr>
                    </a:gs>
                  </a:gsLst>
                  <a:lin ang="0"/>
                </a:gradFill>
                <a:latin typeface="Poppins Bold"/>
                <a:ea typeface="Poppins Bold"/>
                <a:cs typeface="Poppins Bold"/>
                <a:sym typeface="Poppins Bold"/>
              </a:rPr>
              <a:t>Our AI reduces reporting delays dramatically and ensures issues reach the right officials instantly. This leads to fewer missed complaints, faster responses, and clearer tracking for residents. Overall, it makes community problem-solving quicker, more organized, and more reliable.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TextBox 2" id="2"/>
          <p:cNvSpPr txBox="true"/>
          <p:nvPr/>
        </p:nvSpPr>
        <p:spPr>
          <a:xfrm rot="0">
            <a:off x="2670987" y="1352550"/>
            <a:ext cx="11358619" cy="1736144"/>
          </a:xfrm>
          <a:prstGeom prst="rect">
            <a:avLst/>
          </a:prstGeom>
        </p:spPr>
        <p:txBody>
          <a:bodyPr anchor="t" rtlCol="false" tIns="0" lIns="0" bIns="0" rIns="0">
            <a:spAutoFit/>
          </a:bodyPr>
          <a:lstStyle/>
          <a:p>
            <a:pPr algn="l">
              <a:lnSpc>
                <a:spcPts val="12732"/>
              </a:lnSpc>
            </a:pPr>
            <a:r>
              <a:rPr lang="en-US" sz="13545" spc="-284">
                <a:gradFill>
                  <a:gsLst>
                    <a:gs pos="0">
                      <a:srgbClr val="FF5757">
                        <a:alpha val="100000"/>
                      </a:srgbClr>
                    </a:gs>
                    <a:gs pos="100000">
                      <a:srgbClr val="8C52FF">
                        <a:alpha val="100000"/>
                      </a:srgbClr>
                    </a:gs>
                  </a:gsLst>
                  <a:lin ang="0"/>
                </a:gradFill>
                <a:latin typeface="Bernoru"/>
                <a:ea typeface="Bernoru"/>
                <a:cs typeface="Bernoru"/>
                <a:sym typeface="Bernoru"/>
              </a:rPr>
              <a:t>TECH  STACK</a:t>
            </a:r>
          </a:p>
        </p:txBody>
      </p:sp>
      <p:sp>
        <p:nvSpPr>
          <p:cNvPr name="TextBox 3" id="3"/>
          <p:cNvSpPr txBox="true"/>
          <p:nvPr/>
        </p:nvSpPr>
        <p:spPr>
          <a:xfrm rot="0">
            <a:off x="5820604" y="3369849"/>
            <a:ext cx="5531385" cy="575296"/>
          </a:xfrm>
          <a:prstGeom prst="rect">
            <a:avLst/>
          </a:prstGeom>
        </p:spPr>
        <p:txBody>
          <a:bodyPr anchor="t" rtlCol="false" tIns="0" lIns="0" bIns="0" rIns="0">
            <a:spAutoFit/>
          </a:bodyPr>
          <a:lstStyle/>
          <a:p>
            <a:pPr algn="ctr">
              <a:lnSpc>
                <a:spcPts val="4381"/>
              </a:lnSpc>
              <a:spcBef>
                <a:spcPct val="0"/>
              </a:spcBef>
            </a:pPr>
            <a:r>
              <a:rPr lang="en-US" b="true" sz="3422" spc="160">
                <a:gradFill>
                  <a:gsLst>
                    <a:gs pos="0">
                      <a:srgbClr val="CDFFD8">
                        <a:alpha val="100000"/>
                      </a:srgbClr>
                    </a:gs>
                    <a:gs pos="100000">
                      <a:srgbClr val="94B9FF">
                        <a:alpha val="100000"/>
                      </a:srgbClr>
                    </a:gs>
                  </a:gsLst>
                  <a:lin ang="0"/>
                </a:gradFill>
                <a:latin typeface="Poppins Bold"/>
                <a:ea typeface="Poppins Bold"/>
                <a:cs typeface="Poppins Bold"/>
                <a:sym typeface="Poppins Bold"/>
              </a:rPr>
              <a:t>NLP MODEL -GEMINI API</a:t>
            </a:r>
          </a:p>
        </p:txBody>
      </p:sp>
      <p:sp>
        <p:nvSpPr>
          <p:cNvPr name="TextBox 4" id="4"/>
          <p:cNvSpPr txBox="true"/>
          <p:nvPr/>
        </p:nvSpPr>
        <p:spPr>
          <a:xfrm rot="0">
            <a:off x="1640086" y="4192755"/>
            <a:ext cx="9525" cy="1701464"/>
          </a:xfrm>
          <a:prstGeom prst="rect">
            <a:avLst/>
          </a:prstGeom>
        </p:spPr>
        <p:txBody>
          <a:bodyPr anchor="t" rtlCol="false" tIns="0" lIns="0" bIns="0" rIns="0">
            <a:spAutoFit/>
          </a:bodyPr>
          <a:lstStyle/>
          <a:p>
            <a:pPr algn="l">
              <a:lnSpc>
                <a:spcPts val="13843"/>
              </a:lnSpc>
              <a:spcBef>
                <a:spcPct val="0"/>
              </a:spcBef>
            </a:pPr>
          </a:p>
        </p:txBody>
      </p:sp>
      <p:sp>
        <p:nvSpPr>
          <p:cNvPr name="TextBox 5" id="5"/>
          <p:cNvSpPr txBox="true"/>
          <p:nvPr/>
        </p:nvSpPr>
        <p:spPr>
          <a:xfrm rot="0">
            <a:off x="5436680" y="4771404"/>
            <a:ext cx="6299234" cy="1122816"/>
          </a:xfrm>
          <a:prstGeom prst="rect">
            <a:avLst/>
          </a:prstGeom>
        </p:spPr>
        <p:txBody>
          <a:bodyPr anchor="t" rtlCol="false" tIns="0" lIns="0" bIns="0" rIns="0">
            <a:spAutoFit/>
          </a:bodyPr>
          <a:lstStyle/>
          <a:p>
            <a:pPr algn="ctr">
              <a:lnSpc>
                <a:spcPts val="4485"/>
              </a:lnSpc>
              <a:spcBef>
                <a:spcPct val="0"/>
              </a:spcBef>
            </a:pPr>
            <a:r>
              <a:rPr lang="en-US" b="true" sz="3203" spc="-67">
                <a:gradFill>
                  <a:gsLst>
                    <a:gs pos="0">
                      <a:srgbClr val="CDFFD8">
                        <a:alpha val="100000"/>
                      </a:srgbClr>
                    </a:gs>
                    <a:gs pos="100000">
                      <a:srgbClr val="94B9FF">
                        <a:alpha val="100000"/>
                      </a:srgbClr>
                    </a:gs>
                  </a:gsLst>
                  <a:lin ang="0"/>
                </a:gradFill>
                <a:latin typeface="Poppins Bold"/>
                <a:ea typeface="Poppins Bold"/>
                <a:cs typeface="Poppins Bold"/>
                <a:sym typeface="Poppins Bold"/>
              </a:rPr>
              <a:t>BACKEND-JAVASCRIPT,HTML AND CSS</a:t>
            </a:r>
          </a:p>
        </p:txBody>
      </p:sp>
      <p:sp>
        <p:nvSpPr>
          <p:cNvPr name="Freeform 6" id="6"/>
          <p:cNvSpPr/>
          <p:nvPr/>
        </p:nvSpPr>
        <p:spPr>
          <a:xfrm flipH="false" flipV="false" rot="0">
            <a:off x="326337" y="262414"/>
            <a:ext cx="1046288" cy="1040124"/>
          </a:xfrm>
          <a:custGeom>
            <a:avLst/>
            <a:gdLst/>
            <a:ahLst/>
            <a:cxnLst/>
            <a:rect r="r" b="b" t="t" l="l"/>
            <a:pathLst>
              <a:path h="1040124" w="1046288">
                <a:moveTo>
                  <a:pt x="0" y="0"/>
                </a:moveTo>
                <a:lnTo>
                  <a:pt x="1046289" y="0"/>
                </a:lnTo>
                <a:lnTo>
                  <a:pt x="1046289" y="1040124"/>
                </a:lnTo>
                <a:lnTo>
                  <a:pt x="0" y="1040124"/>
                </a:lnTo>
                <a:lnTo>
                  <a:pt x="0" y="0"/>
                </a:lnTo>
                <a:close/>
              </a:path>
            </a:pathLst>
          </a:custGeom>
          <a:blipFill>
            <a:blip r:embed="rId2"/>
            <a:stretch>
              <a:fillRect l="0" t="-2879" r="-5135" b="-2879"/>
            </a:stretch>
          </a:blipFill>
        </p:spPr>
      </p:sp>
      <p:sp>
        <p:nvSpPr>
          <p:cNvPr name="TextBox 7" id="7"/>
          <p:cNvSpPr txBox="true"/>
          <p:nvPr/>
        </p:nvSpPr>
        <p:spPr>
          <a:xfrm rot="0">
            <a:off x="6252750" y="6751470"/>
            <a:ext cx="4195093" cy="497632"/>
          </a:xfrm>
          <a:prstGeom prst="rect">
            <a:avLst/>
          </a:prstGeom>
        </p:spPr>
        <p:txBody>
          <a:bodyPr anchor="t" rtlCol="false" tIns="0" lIns="0" bIns="0" rIns="0">
            <a:spAutoFit/>
          </a:bodyPr>
          <a:lstStyle/>
          <a:p>
            <a:pPr algn="ctr">
              <a:lnSpc>
                <a:spcPts val="4071"/>
              </a:lnSpc>
              <a:spcBef>
                <a:spcPct val="0"/>
              </a:spcBef>
            </a:pPr>
            <a:r>
              <a:rPr lang="en-US" sz="2908" spc="-61">
                <a:gradFill>
                  <a:gsLst>
                    <a:gs pos="0">
                      <a:srgbClr val="CDFFD8">
                        <a:alpha val="100000"/>
                      </a:srgbClr>
                    </a:gs>
                    <a:gs pos="100000">
                      <a:srgbClr val="94B9FF">
                        <a:alpha val="100000"/>
                      </a:srgbClr>
                    </a:gs>
                  </a:gsLst>
                  <a:lin ang="0"/>
                </a:gradFill>
                <a:latin typeface="Bernoru"/>
                <a:ea typeface="Bernoru"/>
                <a:cs typeface="Bernoru"/>
                <a:sym typeface="Bernoru"/>
              </a:rPr>
              <a:t>TEXT EDITOR-V S CODE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267899" y="7361122"/>
            <a:ext cx="2787566" cy="2761992"/>
          </a:xfrm>
          <a:custGeom>
            <a:avLst/>
            <a:gdLst/>
            <a:ahLst/>
            <a:cxnLst/>
            <a:rect r="r" b="b" t="t" l="l"/>
            <a:pathLst>
              <a:path h="2761992" w="2787566">
                <a:moveTo>
                  <a:pt x="0" y="0"/>
                </a:moveTo>
                <a:lnTo>
                  <a:pt x="2787566" y="0"/>
                </a:lnTo>
                <a:lnTo>
                  <a:pt x="2787566" y="2761992"/>
                </a:lnTo>
                <a:lnTo>
                  <a:pt x="0" y="2761992"/>
                </a:lnTo>
                <a:lnTo>
                  <a:pt x="0" y="0"/>
                </a:lnTo>
                <a:close/>
              </a:path>
            </a:pathLst>
          </a:custGeom>
          <a:blipFill>
            <a:blip r:embed="rId2"/>
            <a:stretch>
              <a:fillRect l="0" t="0" r="0" b="0"/>
            </a:stretch>
          </a:blipFill>
        </p:spPr>
      </p:sp>
      <p:sp>
        <p:nvSpPr>
          <p:cNvPr name="Freeform 3" id="3"/>
          <p:cNvSpPr/>
          <p:nvPr/>
        </p:nvSpPr>
        <p:spPr>
          <a:xfrm flipH="false" flipV="false" rot="0">
            <a:off x="16736156" y="262414"/>
            <a:ext cx="1046288" cy="1040124"/>
          </a:xfrm>
          <a:custGeom>
            <a:avLst/>
            <a:gdLst/>
            <a:ahLst/>
            <a:cxnLst/>
            <a:rect r="r" b="b" t="t" l="l"/>
            <a:pathLst>
              <a:path h="1040124" w="1046288">
                <a:moveTo>
                  <a:pt x="0" y="0"/>
                </a:moveTo>
                <a:lnTo>
                  <a:pt x="1046288" y="0"/>
                </a:lnTo>
                <a:lnTo>
                  <a:pt x="1046288" y="1040124"/>
                </a:lnTo>
                <a:lnTo>
                  <a:pt x="0" y="1040124"/>
                </a:lnTo>
                <a:lnTo>
                  <a:pt x="0" y="0"/>
                </a:lnTo>
                <a:close/>
              </a:path>
            </a:pathLst>
          </a:custGeom>
          <a:blipFill>
            <a:blip r:embed="rId3"/>
            <a:stretch>
              <a:fillRect l="0" t="-2879" r="-5135" b="-2879"/>
            </a:stretch>
          </a:blipFill>
        </p:spPr>
      </p:sp>
      <p:sp>
        <p:nvSpPr>
          <p:cNvPr name="Freeform 4" id="4"/>
          <p:cNvSpPr/>
          <p:nvPr/>
        </p:nvSpPr>
        <p:spPr>
          <a:xfrm flipH="false" flipV="false" rot="0">
            <a:off x="9503898" y="636032"/>
            <a:ext cx="3436945" cy="4507468"/>
          </a:xfrm>
          <a:custGeom>
            <a:avLst/>
            <a:gdLst/>
            <a:ahLst/>
            <a:cxnLst/>
            <a:rect r="r" b="b" t="t" l="l"/>
            <a:pathLst>
              <a:path h="4507468" w="3436945">
                <a:moveTo>
                  <a:pt x="0" y="0"/>
                </a:moveTo>
                <a:lnTo>
                  <a:pt x="3436944" y="0"/>
                </a:lnTo>
                <a:lnTo>
                  <a:pt x="3436944" y="4507468"/>
                </a:lnTo>
                <a:lnTo>
                  <a:pt x="0" y="4507468"/>
                </a:lnTo>
                <a:lnTo>
                  <a:pt x="0" y="0"/>
                </a:lnTo>
                <a:close/>
              </a:path>
            </a:pathLst>
          </a:custGeom>
          <a:blipFill>
            <a:blip r:embed="rId4"/>
            <a:stretch>
              <a:fillRect l="0" t="0" r="0" b="0"/>
            </a:stretch>
          </a:blipFill>
        </p:spPr>
      </p:sp>
      <p:sp>
        <p:nvSpPr>
          <p:cNvPr name="Freeform 5" id="5"/>
          <p:cNvSpPr/>
          <p:nvPr/>
        </p:nvSpPr>
        <p:spPr>
          <a:xfrm flipH="false" flipV="false" rot="0">
            <a:off x="13302792" y="636032"/>
            <a:ext cx="3110153" cy="4584159"/>
          </a:xfrm>
          <a:custGeom>
            <a:avLst/>
            <a:gdLst/>
            <a:ahLst/>
            <a:cxnLst/>
            <a:rect r="r" b="b" t="t" l="l"/>
            <a:pathLst>
              <a:path h="4584159" w="3110153">
                <a:moveTo>
                  <a:pt x="0" y="0"/>
                </a:moveTo>
                <a:lnTo>
                  <a:pt x="3110153" y="0"/>
                </a:lnTo>
                <a:lnTo>
                  <a:pt x="3110153" y="4584158"/>
                </a:lnTo>
                <a:lnTo>
                  <a:pt x="0" y="4584158"/>
                </a:lnTo>
                <a:lnTo>
                  <a:pt x="0" y="0"/>
                </a:lnTo>
                <a:close/>
              </a:path>
            </a:pathLst>
          </a:custGeom>
          <a:blipFill>
            <a:blip r:embed="rId5"/>
            <a:stretch>
              <a:fillRect l="0" t="0" r="0" b="0"/>
            </a:stretch>
          </a:blipFill>
        </p:spPr>
      </p:sp>
      <p:sp>
        <p:nvSpPr>
          <p:cNvPr name="Freeform 6" id="6"/>
          <p:cNvSpPr/>
          <p:nvPr/>
        </p:nvSpPr>
        <p:spPr>
          <a:xfrm flipH="false" flipV="false" rot="0">
            <a:off x="9503898" y="6087853"/>
            <a:ext cx="3022481" cy="4035262"/>
          </a:xfrm>
          <a:custGeom>
            <a:avLst/>
            <a:gdLst/>
            <a:ahLst/>
            <a:cxnLst/>
            <a:rect r="r" b="b" t="t" l="l"/>
            <a:pathLst>
              <a:path h="4035262" w="3022481">
                <a:moveTo>
                  <a:pt x="0" y="0"/>
                </a:moveTo>
                <a:lnTo>
                  <a:pt x="3022480" y="0"/>
                </a:lnTo>
                <a:lnTo>
                  <a:pt x="3022480" y="4035261"/>
                </a:lnTo>
                <a:lnTo>
                  <a:pt x="0" y="4035261"/>
                </a:lnTo>
                <a:lnTo>
                  <a:pt x="0" y="0"/>
                </a:lnTo>
                <a:close/>
              </a:path>
            </a:pathLst>
          </a:custGeom>
          <a:blipFill>
            <a:blip r:embed="rId6"/>
            <a:stretch>
              <a:fillRect l="-8800" t="-26275" r="0" b="-26275"/>
            </a:stretch>
          </a:blipFill>
        </p:spPr>
      </p:sp>
      <p:sp>
        <p:nvSpPr>
          <p:cNvPr name="Freeform 7" id="7"/>
          <p:cNvSpPr/>
          <p:nvPr/>
        </p:nvSpPr>
        <p:spPr>
          <a:xfrm flipH="false" flipV="false" rot="0">
            <a:off x="13590470" y="5429391"/>
            <a:ext cx="2534797" cy="4474939"/>
          </a:xfrm>
          <a:custGeom>
            <a:avLst/>
            <a:gdLst/>
            <a:ahLst/>
            <a:cxnLst/>
            <a:rect r="r" b="b" t="t" l="l"/>
            <a:pathLst>
              <a:path h="4474939" w="2534797">
                <a:moveTo>
                  <a:pt x="0" y="0"/>
                </a:moveTo>
                <a:lnTo>
                  <a:pt x="2534797" y="0"/>
                </a:lnTo>
                <a:lnTo>
                  <a:pt x="2534797" y="4474938"/>
                </a:lnTo>
                <a:lnTo>
                  <a:pt x="0" y="4474938"/>
                </a:lnTo>
                <a:lnTo>
                  <a:pt x="0" y="0"/>
                </a:lnTo>
                <a:close/>
              </a:path>
            </a:pathLst>
          </a:custGeom>
          <a:blipFill>
            <a:blip r:embed="rId7"/>
            <a:stretch>
              <a:fillRect l="0" t="0" r="0" b="0"/>
            </a:stretch>
          </a:blipFill>
        </p:spPr>
      </p:sp>
      <p:sp>
        <p:nvSpPr>
          <p:cNvPr name="TextBox 8" id="8"/>
          <p:cNvSpPr txBox="true"/>
          <p:nvPr/>
        </p:nvSpPr>
        <p:spPr>
          <a:xfrm rot="0">
            <a:off x="433264" y="766932"/>
            <a:ext cx="8710736" cy="4387779"/>
          </a:xfrm>
          <a:prstGeom prst="rect">
            <a:avLst/>
          </a:prstGeom>
        </p:spPr>
        <p:txBody>
          <a:bodyPr anchor="t" rtlCol="false" tIns="0" lIns="0" bIns="0" rIns="0">
            <a:spAutoFit/>
          </a:bodyPr>
          <a:lstStyle/>
          <a:p>
            <a:pPr algn="l">
              <a:lnSpc>
                <a:spcPts val="16719"/>
              </a:lnSpc>
            </a:pPr>
            <a:r>
              <a:rPr lang="en-US" sz="17786" spc="-373">
                <a:gradFill>
                  <a:gsLst>
                    <a:gs pos="0">
                      <a:srgbClr val="FF5757">
                        <a:alpha val="100000"/>
                      </a:srgbClr>
                    </a:gs>
                    <a:gs pos="100000">
                      <a:srgbClr val="8C52FF">
                        <a:alpha val="100000"/>
                      </a:srgbClr>
                    </a:gs>
                  </a:gsLst>
                  <a:lin ang="0"/>
                </a:gradFill>
                <a:latin typeface="Bernoru"/>
                <a:ea typeface="Bernoru"/>
                <a:cs typeface="Bernoru"/>
                <a:sym typeface="Bernoru"/>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DAG6wT7qU6o</dc:identifier>
  <dcterms:modified xsi:type="dcterms:W3CDTF">2011-08-01T06:04:30Z</dcterms:modified>
  <cp:revision>1</cp:revision>
  <dc:title>Pitch Deck.</dc:title>
</cp:coreProperties>
</file>